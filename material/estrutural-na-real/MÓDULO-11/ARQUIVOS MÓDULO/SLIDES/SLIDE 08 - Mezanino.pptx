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Roboto Black"/>
      <p:bold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vU1Q/K1mhF5YFJbZWz3MI3ry8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Black-boldItalic.fntdata"/><Relationship Id="rId27" Type="http://schemas.openxmlformats.org/officeDocument/2006/relationships/font" Target="fonts/RobotoBla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7.xml"/><Relationship Id="rId33" Type="http://schemas.openxmlformats.org/officeDocument/2006/relationships/font" Target="fonts/RobotoLight-regular.fntdata"/><Relationship Id="rId10" Type="http://schemas.openxmlformats.org/officeDocument/2006/relationships/slide" Target="slides/slide6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9.xml"/><Relationship Id="rId35" Type="http://schemas.openxmlformats.org/officeDocument/2006/relationships/font" Target="fonts/RobotoLight-italic.fntdata"/><Relationship Id="rId12" Type="http://schemas.openxmlformats.org/officeDocument/2006/relationships/slide" Target="slides/slide8.xml"/><Relationship Id="rId34" Type="http://schemas.openxmlformats.org/officeDocument/2006/relationships/font" Target="fonts/RobotoLight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RobotoLigh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587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pt-BR" sz="42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b="0" i="0" sz="4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Concepção e Dimensionamento de Mezaninos</a:t>
            </a:r>
            <a:endParaRPr b="1" i="0" sz="2800" u="none" cap="none" strike="noStrike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228600" y="-791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0"/>
          <p:cNvSpPr txBox="1"/>
          <p:nvPr/>
        </p:nvSpPr>
        <p:spPr>
          <a:xfrm>
            <a:off x="3544200" y="807371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#01 – Concepção estrutural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#02 – Definir cargas atuantes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#03 – Lançamento das cargas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#04 – Combinações de segurança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#05 – Esforços internos nas Barras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#06 – Dimensionamento dos Perfis</a:t>
            </a:r>
            <a:endParaRPr b="1" i="0" sz="16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40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Passos do Projeto</a:t>
            </a:r>
            <a:endParaRPr/>
          </a:p>
        </p:txBody>
      </p:sp>
      <p:sp>
        <p:nvSpPr>
          <p:cNvPr id="60" name="Google Shape;60;p40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1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1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Concepção Estrutural</a:t>
            </a:r>
            <a:endParaRPr/>
          </a:p>
        </p:txBody>
      </p:sp>
      <p:pic>
        <p:nvPicPr>
          <p:cNvPr id="67" name="Google Shape;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069" y="851345"/>
            <a:ext cx="5268060" cy="395342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1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2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Concepção Estrutural</a:t>
            </a:r>
            <a:endParaRPr/>
          </a:p>
        </p:txBody>
      </p:sp>
      <p:pic>
        <p:nvPicPr>
          <p:cNvPr id="75" name="Google Shape;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27" y="1807615"/>
            <a:ext cx="3270506" cy="156187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2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3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Concepção Estrutural</a:t>
            </a:r>
            <a:endParaRPr/>
          </a:p>
        </p:txBody>
      </p:sp>
      <p:sp>
        <p:nvSpPr>
          <p:cNvPr id="83" name="Google Shape;83;p43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84" name="Google Shape;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064" y="757835"/>
            <a:ext cx="3234150" cy="160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669" y="2571750"/>
            <a:ext cx="3634200" cy="1865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4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4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2" name="Google Shape;92;p44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Flambagem</a:t>
            </a:r>
            <a:endParaRPr/>
          </a:p>
        </p:txBody>
      </p:sp>
      <p:pic>
        <p:nvPicPr>
          <p:cNvPr id="93" name="Google Shape;9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378" y="944594"/>
            <a:ext cx="4299150" cy="398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5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5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0" name="Google Shape;100;p45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Flambagem</a:t>
            </a:r>
            <a:endParaRPr/>
          </a:p>
        </p:txBody>
      </p:sp>
      <p:pic>
        <p:nvPicPr>
          <p:cNvPr id="101" name="Google Shape;1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378" y="944594"/>
            <a:ext cx="4299150" cy="398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6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6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Ações Atuantes</a:t>
            </a:r>
            <a:endParaRPr/>
          </a:p>
        </p:txBody>
      </p:sp>
      <p:pic>
        <p:nvPicPr>
          <p:cNvPr id="108" name="Google Shape;1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2118" y="886691"/>
            <a:ext cx="4941993" cy="31796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6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7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Ações Atuantes</a:t>
            </a:r>
            <a:endParaRPr/>
          </a:p>
        </p:txBody>
      </p:sp>
      <p:sp>
        <p:nvSpPr>
          <p:cNvPr id="116" name="Google Shape;116;p4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17" name="Google Shape;1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335" y="951489"/>
            <a:ext cx="5067527" cy="187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335" y="2830266"/>
            <a:ext cx="5067527" cy="1896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8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8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Aplicadas</a:t>
            </a:r>
            <a:endParaRPr/>
          </a:p>
        </p:txBody>
      </p:sp>
      <p:pic>
        <p:nvPicPr>
          <p:cNvPr id="125" name="Google Shape;12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6257" y="1028251"/>
            <a:ext cx="5364209" cy="267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8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9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9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Aplicadas - PP</a:t>
            </a:r>
            <a:endParaRPr/>
          </a:p>
        </p:txBody>
      </p:sp>
      <p:sp>
        <p:nvSpPr>
          <p:cNvPr id="133" name="Google Shape;133;p49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34" name="Google Shape;13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942" y="983672"/>
            <a:ext cx="4916979" cy="351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0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Forças Aplicadas - SC</a:t>
            </a:r>
            <a:endParaRPr/>
          </a:p>
        </p:txBody>
      </p:sp>
      <p:sp>
        <p:nvSpPr>
          <p:cNvPr id="141" name="Google Shape;141;p50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42" name="Google Shape;1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250" y="1143934"/>
            <a:ext cx="5135590" cy="33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1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1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Dimensionamento</a:t>
            </a:r>
            <a:endParaRPr/>
          </a:p>
        </p:txBody>
      </p:sp>
      <p:sp>
        <p:nvSpPr>
          <p:cNvPr id="149" name="Google Shape;149;p51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50" name="Google Shape;15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380" y="1079628"/>
            <a:ext cx="6944694" cy="230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2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2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Dimensionamento</a:t>
            </a:r>
            <a:endParaRPr/>
          </a:p>
        </p:txBody>
      </p:sp>
      <p:sp>
        <p:nvSpPr>
          <p:cNvPr id="157" name="Google Shape;157;p52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58" name="Google Shape;15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380" y="1079628"/>
            <a:ext cx="6944694" cy="230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3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3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Erro: Plano Não Contra ventado</a:t>
            </a:r>
            <a:endParaRPr/>
          </a:p>
        </p:txBody>
      </p:sp>
      <p:sp>
        <p:nvSpPr>
          <p:cNvPr id="165" name="Google Shape;165;p53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66" name="Google Shape;16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250" y="942075"/>
            <a:ext cx="4691287" cy="34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4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4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Erro: Plano Não Contra ventado</a:t>
            </a:r>
            <a:endParaRPr/>
          </a:p>
        </p:txBody>
      </p:sp>
      <p:sp>
        <p:nvSpPr>
          <p:cNvPr id="173" name="Google Shape;173;p54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74" name="Google Shape;17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250" y="942075"/>
            <a:ext cx="4691287" cy="34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5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5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Calcular Estrutura</a:t>
            </a:r>
            <a:endParaRPr/>
          </a:p>
        </p:txBody>
      </p:sp>
      <p:sp>
        <p:nvSpPr>
          <p:cNvPr id="181" name="Google Shape;181;p55"/>
          <p:cNvSpPr txBox="1"/>
          <p:nvPr/>
        </p:nvSpPr>
        <p:spPr>
          <a:xfrm>
            <a:off x="3544200" y="747001"/>
            <a:ext cx="5599800" cy="26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Esforços Internos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Dimensionamento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Análise</a:t>
            </a:r>
            <a:endParaRPr/>
          </a:p>
          <a:p>
            <a:pPr indent="-285750" lvl="0" marL="4381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Otimização</a:t>
            </a:r>
            <a:endParaRPr b="1" i="0" sz="16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55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6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6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Calcular Estrutura</a:t>
            </a:r>
            <a:endParaRPr/>
          </a:p>
        </p:txBody>
      </p:sp>
      <p:sp>
        <p:nvSpPr>
          <p:cNvPr id="189" name="Google Shape;189;p56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7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Perfil Dobrado - Compressão</a:t>
            </a:r>
            <a:endParaRPr/>
          </a:p>
        </p:txBody>
      </p:sp>
      <p:sp>
        <p:nvSpPr>
          <p:cNvPr id="196" name="Google Shape;196;p5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97" name="Google Shape;19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80" y="1253667"/>
            <a:ext cx="8591560" cy="155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8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8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Perfil Laminados - Compressão</a:t>
            </a:r>
            <a:endParaRPr/>
          </a:p>
        </p:txBody>
      </p:sp>
      <p:sp>
        <p:nvSpPr>
          <p:cNvPr id="204" name="Google Shape;204;p58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05" name="Google Shape;2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981" y="1082749"/>
            <a:ext cx="5216235" cy="148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9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9"/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Perfil Laminados - Compressão</a:t>
            </a:r>
            <a:endParaRPr/>
          </a:p>
        </p:txBody>
      </p:sp>
      <p:sp>
        <p:nvSpPr>
          <p:cNvPr id="212" name="Google Shape;212;p59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Mezanino</a:t>
            </a:r>
            <a:endParaRPr b="0" i="0" sz="3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13" name="Google Shape;21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981" y="1082749"/>
            <a:ext cx="5216235" cy="148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587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pt-BR" sz="42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b="0" i="0" sz="4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