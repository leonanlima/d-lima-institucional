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oboto Black"/>
      <p:bold r:id="rId22"/>
      <p:boldItalic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v+et+6E5eR20i6JrvGl6iAQwe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Black-bold.fntdata"/><Relationship Id="rId21" Type="http://schemas.openxmlformats.org/officeDocument/2006/relationships/slide" Target="slides/slide17.xml"/><Relationship Id="rId24" Type="http://schemas.openxmlformats.org/officeDocument/2006/relationships/font" Target="fonts/Roboto-regular.fntdata"/><Relationship Id="rId23" Type="http://schemas.openxmlformats.org/officeDocument/2006/relationships/font" Target="fonts/RobotoBlac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customschemas.google.com/relationships/presentationmetadata" Target="meta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587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pt-BR" sz="42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b="0" i="0" sz="4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835375" y="1779572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ESTRUTURAS METÁLICAS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8" name="Google Shape;58;p27"/>
          <p:cNvSpPr txBox="1"/>
          <p:nvPr/>
        </p:nvSpPr>
        <p:spPr>
          <a:xfrm>
            <a:off x="3700942" y="13812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Valores dos coeficientes de pressão e de forma, externos, para diversos tipos de edificações e para direções críticas do vento são dados nas Tabelas 6 a 12.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Zonas com altas sucções ocorrem junto às arestas de paredes e de telhados e têm sua localização dependendo do ângulo de incidência do vento (zonas hachuradas nas figuras das Tabelas 6 a 12).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Portanto, estas sucções elevadas não ocorrem simultaneamente em todas estas zonas, para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quais as tabelas apresentam valores médios de coeficientes de pressão externa (cpe médio). </a:t>
            </a:r>
            <a:endParaRPr/>
          </a:p>
        </p:txBody>
      </p:sp>
      <p:sp>
        <p:nvSpPr>
          <p:cNvPr id="59" name="Google Shape;59;p27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 externos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0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40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Como a força do vento depende da diferença de pressão nas faces opostas da parte da edificação em estudo, os coeficientes de pressão são dados para superfícies externas e superfícies internas.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força do vento sobre um elemento plano de edificação, estrutura ou componente de área A atua em direção perpendicular ao mesmo, sendo calculada conforme a seguinte equação: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Fe - Fi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Fe é a força externa à edificação, estrutura ou componente, agindo na superfície plana de área A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5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Fi é a força interna à edificação, estrutura ou componente, agindo na superfície plana de área A</a:t>
            </a:r>
            <a:endParaRPr/>
          </a:p>
        </p:txBody>
      </p:sp>
      <p:sp>
        <p:nvSpPr>
          <p:cNvPr id="67" name="Google Shape;67;p40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forma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1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1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4" name="Google Shape;74;p41"/>
          <p:cNvSpPr txBox="1"/>
          <p:nvPr/>
        </p:nvSpPr>
        <p:spPr>
          <a:xfrm>
            <a:off x="3700942" y="986413"/>
            <a:ext cx="4438603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Portanto: 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q . A . (Ce - Ci)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Ce é o coeficiente de forma externo: Ce = Fe / (q A) 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Ci é o coeficiente de forma interno: Ci = Fi / (q A)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41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2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2" name="Google Shape;82;p42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valores positivos dos coeficientes de forma externo e interno correspondem a sobrepressões e os valores negativos correspondem a sucções.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Um valor positivo para F indica que essa força atua para o interior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Um valor negativo indica que essa força atua para o exterior da edificação</a:t>
            </a:r>
            <a:endParaRPr/>
          </a:p>
        </p:txBody>
      </p:sp>
      <p:sp>
        <p:nvSpPr>
          <p:cNvPr id="83" name="Google Shape;83;p42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</a:t>
            </a:r>
            <a:endParaRPr/>
          </a:p>
        </p:txBody>
      </p:sp>
      <p:pic>
        <p:nvPicPr>
          <p:cNvPr id="84" name="Google Shape;84;p42"/>
          <p:cNvPicPr preferRelativeResize="0"/>
          <p:nvPr/>
        </p:nvPicPr>
        <p:blipFill rotWithShape="1">
          <a:blip r:embed="rId3">
            <a:alphaModFix/>
          </a:blip>
          <a:srcRect b="0" l="0" r="0" t="2641"/>
          <a:stretch/>
        </p:blipFill>
        <p:spPr>
          <a:xfrm>
            <a:off x="3825875" y="3047999"/>
            <a:ext cx="2276793" cy="145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2"/>
          <p:cNvPicPr preferRelativeResize="0"/>
          <p:nvPr/>
        </p:nvPicPr>
        <p:blipFill rotWithShape="1">
          <a:blip r:embed="rId4">
            <a:alphaModFix/>
          </a:blip>
          <a:srcRect b="0" l="0" r="0" t="3258"/>
          <a:stretch/>
        </p:blipFill>
        <p:spPr>
          <a:xfrm>
            <a:off x="6240879" y="3068780"/>
            <a:ext cx="2314898" cy="1456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2" name="Google Shape;92;p43"/>
          <p:cNvSpPr txBox="1"/>
          <p:nvPr/>
        </p:nvSpPr>
        <p:spPr>
          <a:xfrm>
            <a:off x="3700942" y="1381268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Valores dos coeficientes de pressão e de forma, externos, para diversos tipos de edificações e para direções críticas do vento são dados nas Tabelas 6 a 12.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Zonas com altas sucções ocorrem junto às arestas de paredes e de telhados e têm sua localização dependendo do ângulo de incidência do vento (zonas hachuradas nas figuras das Tabelas 6 a 12).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Portanto, estas sucções elevadas não ocorrem simultaneamente em todas estas zonas, para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quais as tabelas apresentam valores médios de coeficientes de pressão externa (cpe médio). </a:t>
            </a:r>
            <a:endParaRPr/>
          </a:p>
        </p:txBody>
      </p:sp>
      <p:sp>
        <p:nvSpPr>
          <p:cNvPr id="93" name="Google Shape;93;p43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 externos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4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4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0" name="Google Shape;100;p44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paredes de edificações de planta retangular a × b, sendo b a menor dimensão</a:t>
            </a:r>
            <a:endParaRPr/>
          </a:p>
        </p:txBody>
      </p:sp>
      <p:pic>
        <p:nvPicPr>
          <p:cNvPr id="101" name="Google Shape;10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4149" y="1357745"/>
            <a:ext cx="5418988" cy="253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5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5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8" name="Google Shape;108;p45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paredes de edificações de planta retangular a × b, sendo b a menor dimensão</a:t>
            </a:r>
            <a:endParaRPr/>
          </a:p>
        </p:txBody>
      </p:sp>
      <p:pic>
        <p:nvPicPr>
          <p:cNvPr id="109" name="Google Shape;1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6244" y="1218024"/>
            <a:ext cx="4618993" cy="377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6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6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6" name="Google Shape;116;p46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telhados com duas águas, simétricos, em edificações de planta retangular a × b, sendo b a menor dimensão</a:t>
            </a:r>
            <a:endParaRPr/>
          </a:p>
        </p:txBody>
      </p:sp>
      <p:pic>
        <p:nvPicPr>
          <p:cNvPr id="117" name="Google Shape;11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992" y="1318367"/>
            <a:ext cx="4336186" cy="1431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2850585"/>
            <a:ext cx="4287178" cy="2102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7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5" name="Google Shape;125;p47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telhados com uma água, em edificações de planta retangular a × b, sendo b a menor dimensão, com h / b &lt; 2</a:t>
            </a:r>
            <a:endParaRPr/>
          </a:p>
        </p:txBody>
      </p:sp>
      <p:pic>
        <p:nvPicPr>
          <p:cNvPr id="126" name="Google Shape;12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361" y="1586054"/>
            <a:ext cx="4645170" cy="2975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8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8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3" name="Google Shape;133;p48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telhados com uma água, em edificações de planta retangular a × b, sendo b a menor dimensão, com h / b &lt; 2</a:t>
            </a:r>
            <a:endParaRPr/>
          </a:p>
        </p:txBody>
      </p:sp>
      <p:pic>
        <p:nvPicPr>
          <p:cNvPr id="134" name="Google Shape;13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5875" y="1618560"/>
            <a:ext cx="5036652" cy="267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9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9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1" name="Google Shape;141;p49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telhados com duas águas, simétricos, de calha central, em edificações de planta retangular a × b (usar S2 correspondente à altura h)</a:t>
            </a:r>
            <a:endParaRPr/>
          </a:p>
        </p:txBody>
      </p:sp>
      <p:pic>
        <p:nvPicPr>
          <p:cNvPr id="142" name="Google Shape;14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915" y="1537765"/>
            <a:ext cx="4324576" cy="334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0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0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9" name="Google Shape;149;p50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 de forma, externos, para telhados com duas águas, simétricos, de calha central, em edificações de planta retangular a × b (usar S2 correspondente à altura h)</a:t>
            </a:r>
            <a:endParaRPr/>
          </a:p>
        </p:txBody>
      </p:sp>
      <p:pic>
        <p:nvPicPr>
          <p:cNvPr id="150" name="Google Shape;15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763" y="1724891"/>
            <a:ext cx="4641345" cy="2805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1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1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7" name="Google Shape;157;p51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externa para coberturas curvas: Abóbodas cilíndricas de seção circular</a:t>
            </a:r>
            <a:endParaRPr/>
          </a:p>
        </p:txBody>
      </p:sp>
      <p:pic>
        <p:nvPicPr>
          <p:cNvPr id="158" name="Google Shape;1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336" y="1079550"/>
            <a:ext cx="4838614" cy="3627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2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2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5" name="Google Shape;165;p52"/>
          <p:cNvSpPr txBox="1"/>
          <p:nvPr/>
        </p:nvSpPr>
        <p:spPr>
          <a:xfrm>
            <a:off x="3825875" y="365134"/>
            <a:ext cx="4840143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16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 externa para coberturas curvas: Abóbodas cilíndricas de seção circular</a:t>
            </a:r>
            <a:endParaRPr/>
          </a:p>
        </p:txBody>
      </p:sp>
      <p:pic>
        <p:nvPicPr>
          <p:cNvPr id="166" name="Google Shape;16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1000" y="1143934"/>
            <a:ext cx="4449891" cy="225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3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3"/>
          <p:cNvSpPr txBox="1"/>
          <p:nvPr/>
        </p:nvSpPr>
        <p:spPr>
          <a:xfrm>
            <a:off x="310050" y="365134"/>
            <a:ext cx="2924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28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Aerodinâmicos</a:t>
            </a:r>
            <a:endParaRPr b="0" i="0" sz="3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3" name="Google Shape;173;p53"/>
          <p:cNvSpPr txBox="1"/>
          <p:nvPr/>
        </p:nvSpPr>
        <p:spPr>
          <a:xfrm>
            <a:off x="3700942" y="986413"/>
            <a:ext cx="4697525" cy="9688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Portanto: 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 = q A (Ce - Ci)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Ce é o coeficiente de forma externo: Ce = Fe / (q A) 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Ci é o coeficiente de forma interno: Ci = Fi / (q A)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53"/>
          <p:cNvSpPr txBox="1"/>
          <p:nvPr/>
        </p:nvSpPr>
        <p:spPr>
          <a:xfrm>
            <a:off x="3825875" y="3651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800" u="none" cap="none" strike="noStrike">
                <a:solidFill>
                  <a:srgbClr val="094067"/>
                </a:solidFill>
                <a:latin typeface="Roboto Black"/>
                <a:ea typeface="Roboto Black"/>
                <a:cs typeface="Roboto Black"/>
                <a:sym typeface="Roboto Black"/>
              </a:rPr>
              <a:t>Coeficientes de pressão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587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1628979" y="1519246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pt-BR" sz="4200" u="none" cap="none" strike="noStrik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É isso aí muito obrigado e te vejo na próxima aula!</a:t>
            </a:r>
            <a:endParaRPr b="0" i="0" sz="4200" u="none" cap="none" strike="noStrike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